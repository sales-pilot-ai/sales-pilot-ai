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2103120"/>
            <a:ext cx="6949440" cy="6949440"/>
          </a:xfrm>
          <a:prstGeom prst="ellipse">
            <a:avLst/>
          </a:prstGeom>
          <a:noFill/>
          <a:ln w="15875">
            <a:solidFill>
              <a:srgbClr val="18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3291840"/>
            <a:ext cx="4572000" cy="4572000"/>
          </a:xfrm>
          <a:prstGeom prst="ellipse">
            <a:avLst/>
          </a:prstGeom>
          <a:noFill/>
          <a:ln w="12700">
            <a:solidFill>
              <a:srgbClr val="18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73152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spc="260">
                <a:solidFill>
                  <a:srgbClr val="6E86B8"/>
                </a:solidFill>
                <a:latin typeface="游ゴシック"/>
                <a:ea typeface="游ゴシック"/>
                <a:cs typeface="游ゴシック"/>
              </a:rPr>
              <a:t>INTERNAL USE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2359152"/>
            <a:ext cx="502920" cy="2794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9601200" cy="1097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Sales Pilot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01568"/>
            <a:ext cx="822960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0">
                <a:solidFill>
                  <a:srgbClr val="C7D3EA"/>
                </a:solidFill>
                <a:latin typeface="游ゴシック"/>
                <a:ea typeface="游ゴシック"/>
                <a:cs typeface="游ゴシック"/>
              </a:rPr>
              <a:t>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06440"/>
            <a:ext cx="36576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200">
                <a:solidFill>
                  <a:srgbClr val="667CAC"/>
                </a:solidFill>
                <a:latin typeface="游ゴシック"/>
                <a:ea typeface="游ゴシック"/>
                <a:cs typeface="游ゴシック"/>
              </a:rPr>
              <a:t>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053328"/>
            <a:ext cx="365760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5806440"/>
            <a:ext cx="457200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200">
                <a:solidFill>
                  <a:srgbClr val="667CAC"/>
                </a:solidFill>
                <a:latin typeface="游ゴシック"/>
                <a:ea typeface="游ゴシック"/>
                <a:cs typeface="游ゴシック"/>
              </a:rPr>
              <a:t>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6053328"/>
            <a:ext cx="548640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C7D3EA"/>
                </a:solidFill>
                <a:latin typeface="游ゴシック"/>
                <a:ea typeface="游ゴシック"/>
                <a:cs typeface="游ゴシック"/>
              </a:rPr>
              <a:t>2026年7月　Sales Pilot AI 開発チーム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この資料の構成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02 / 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64008" cy="420624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56816"/>
            <a:ext cx="4572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0665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066544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956816"/>
            <a:ext cx="658368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プロジェクト概要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1956816"/>
            <a:ext cx="18288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P.03–04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33472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6624"/>
            <a:ext cx="64008" cy="420624"/>
          </a:xfrm>
          <a:prstGeom prst="rect">
            <a:avLst/>
          </a:prstGeom>
          <a:solidFill>
            <a:srgbClr val="4B4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633472"/>
            <a:ext cx="4572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2743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74320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633472"/>
            <a:ext cx="658368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システム全体図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2633472"/>
            <a:ext cx="18288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P.05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10128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383280"/>
            <a:ext cx="64008" cy="420624"/>
          </a:xfrm>
          <a:prstGeom prst="rect">
            <a:avLst/>
          </a:prstGeom>
          <a:solidFill>
            <a:srgbClr val="0E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310128"/>
            <a:ext cx="4572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341985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341985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310128"/>
            <a:ext cx="658368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データとコマンドの基本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5655" y="3310128"/>
            <a:ext cx="18288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P.06–08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8678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059936"/>
            <a:ext cx="64008" cy="420624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986784"/>
            <a:ext cx="4572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54480" y="409651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09651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☀️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986784"/>
            <a:ext cx="658368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実際の使い方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5655" y="3986784"/>
            <a:ext cx="18288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P.09–15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63440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736592"/>
            <a:ext cx="64008" cy="42062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663440"/>
            <a:ext cx="4572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54480" y="47731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47731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663440"/>
            <a:ext cx="658368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実績とロードマップ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5655" y="4663440"/>
            <a:ext cx="18288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P.16–21, 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340096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413248"/>
            <a:ext cx="64008" cy="42062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5340096"/>
            <a:ext cx="4572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54480" y="544982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4480" y="5449824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340096"/>
            <a:ext cx="658368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サポート情報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85655" y="5340096"/>
            <a:ext cx="1828800" cy="6766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P.22–24, 26–27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こんな営業課題はありませんか？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03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3375050" cy="2331720"/>
          </a:xfrm>
          <a:prstGeom prst="roundRect">
            <a:avLst>
              <a:gd name="adj" fmla="val 5446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276148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新規開拓に時間がかかる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090672"/>
            <a:ext cx="2936138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企業リストの作成に多くの時間を取られている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8322" y="1956816"/>
            <a:ext cx="3375050" cy="2331720"/>
          </a:xfrm>
          <a:prstGeom prst="roundRect">
            <a:avLst>
              <a:gd name="adj" fmla="val 5446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27778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7778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7778" y="276148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送信・フォローが属人化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7778" y="3090672"/>
            <a:ext cx="2936138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メール送信やフォローが担当者任せになっている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404" y="1956816"/>
            <a:ext cx="3375050" cy="2331720"/>
          </a:xfrm>
          <a:prstGeom prst="roundRect">
            <a:avLst>
              <a:gd name="adj" fmla="val 5446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58860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8860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8860" y="276148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商談に集中できない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8860" y="3090672"/>
            <a:ext cx="2936138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本来集中すべき商談・クロージングの時間が削られる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44568"/>
            <a:ext cx="10637215" cy="1188720"/>
          </a:xfrm>
          <a:prstGeom prst="roundRect">
            <a:avLst>
              <a:gd name="adj" fmla="val 10683"/>
            </a:avLst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88136" y="49103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9103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745736"/>
            <a:ext cx="9601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60">
                <a:solidFill>
                  <a:srgbClr val="DCE7F8"/>
                </a:solidFill>
                <a:latin typeface="游ゴシック"/>
                <a:ea typeface="游ゴシック"/>
                <a:cs typeface="游ゴシック"/>
              </a:rPr>
              <a:t>解決策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001768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Sales Pilot AI が「企業探し → 送信 → フォロー → 成約管理」を一気通貫で半自動化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導入メリット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04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作業時間を削減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企業探し・メール送信作業を自動化し、手作業の時間を大幅に削減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3319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使い慣れたツールで完結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Google スプレッドシートがそのままデータベースになる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6696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フォロー漏れを防止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「今日やるべきこと」を自動表示し、対応漏れを防ぐ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3319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319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3319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状況を見える化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319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レポート・ダッシュボードで進捗をいつでも確認できる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B4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SYSTEM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システム全体図｜企業探しから成約まで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ひとつの流れとして、シートを開かずに一気通貫で進められます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05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042377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42377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956816"/>
            <a:ext cx="2286000" cy="6283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企業検索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956816"/>
            <a:ext cx="7253935" cy="6283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業種・地域で候補企業を自動収集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66851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67070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670701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585139"/>
            <a:ext cx="2286000" cy="6283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営業リスト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585139"/>
            <a:ext cx="7253935" cy="6283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Google スプレッドシートで一元管理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95174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29902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99024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213462"/>
            <a:ext cx="2286000" cy="6283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メール送信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213462"/>
            <a:ext cx="7253935" cy="6283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パーソナライズしたメールを一括送信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23498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927347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927347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841786"/>
            <a:ext cx="2286000" cy="6283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返信取得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841786"/>
            <a:ext cx="7253935" cy="6283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Gmail の返信を自動検知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51821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55567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555671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470109"/>
            <a:ext cx="2286000" cy="6283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フォローアップ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470109"/>
            <a:ext cx="7253935" cy="6283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今日やるべき対応を自動表示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080145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18399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183994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098433"/>
            <a:ext cx="2286000" cy="6283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商談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098433"/>
            <a:ext cx="7253935" cy="6283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商談日・進捗を記録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708468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81231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1231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B4FA6"/>
                </a:solidFill>
                <a:latin typeface="游ゴシック"/>
                <a:ea typeface="游ゴシック"/>
                <a:cs typeface="游ゴシック"/>
              </a:rPr>
              <a:t>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5726756"/>
            <a:ext cx="2286000" cy="6283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成約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5726756"/>
            <a:ext cx="7253935" cy="6283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成約 / 失注を記録して完了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E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DATA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データは4種類のスプレッドシートで管理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すべて Google スプレッドシート上にあり、ツールを使わなくても中身を確認できます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06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営業リスト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企業情報・進捗状況（送信可否／商談日／成約等）を管理する中心データ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送信履歴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いつ・誰に・どのテンプレートで送ったかを自動記録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返信履歴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返信の内容・検知タイミングを記録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3863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3319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319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319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営業ダッシュボード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返信あり・送信待ち等をシート上で自動集計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E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CLI COMMANDS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コマンド一覧｜探す・送る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営業担当が最初に使う2つの基本コマンドです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5190591" cy="4398264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18488" y="2194560"/>
            <a:ext cx="1965960" cy="292608"/>
          </a:xfrm>
          <a:prstGeom prst="roundRect">
            <a:avLst>
              <a:gd name="adj" fmla="val 17361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488" y="2194560"/>
            <a:ext cx="19659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0E7C6A"/>
                </a:solidFill>
                <a:latin typeface="Consolas"/>
                <a:ea typeface="Consolas"/>
                <a:cs typeface="Consolas"/>
              </a:rPr>
              <a:t>sales-pilot find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2834640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企業を検索してリストに追加する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" y="333756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3337560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19272"/>
            <a:ext cx="4331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業種・地域を指定して候補企業を自動収集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" y="394106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3941064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22776"/>
            <a:ext cx="4331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--review で1社ずつ確認しながら登録できる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" y="454456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544568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526280"/>
            <a:ext cx="4331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取得と同時にWebサイトから連絡先を補完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3863" y="1956816"/>
            <a:ext cx="5190591" cy="4398264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3319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319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65111" y="2194560"/>
            <a:ext cx="1965960" cy="292608"/>
          </a:xfrm>
          <a:prstGeom prst="roundRect">
            <a:avLst>
              <a:gd name="adj" fmla="val 17361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5111" y="2194560"/>
            <a:ext cx="196596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0E7C6A"/>
                </a:solidFill>
                <a:latin typeface="Consolas"/>
                <a:ea typeface="Consolas"/>
                <a:cs typeface="Consolas"/>
              </a:rPr>
              <a:t>sales-pilot send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3319" y="2834640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メールを一括送信する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3319" y="333756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319" y="3337560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3943" y="3319272"/>
            <a:ext cx="4331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送信可否が「○」の企業へ自動送信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3319" y="394106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3319" y="3941064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3943" y="3922776"/>
            <a:ext cx="4331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--preview で送信前に内容を確認できる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3319" y="454456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3319" y="4544568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63943" y="4526280"/>
            <a:ext cx="4331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--template で使用する文面を選べる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E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CLI COMMANDS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コマンド一覧｜管理する・確認する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送信後の商談管理から日々の状況把握までをコマンドひとつで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08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商談日・成約・失注・メモなどの進捗をシートを開かずに更新する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送信率・返信率・成約数などの営業状況を集計して表示する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今日連絡すべき相手を優先順位順に表示する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3863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3319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319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E7C6A"/>
                </a:solidFill>
                <a:latin typeface="游ゴシック"/>
                <a:ea typeface="游ゴシック"/>
                <a:cs typeface="游ゴシック"/>
              </a:rPr>
              <a:t>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319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template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用途別のメールテンプレートを作成・編集・複製・削除する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DAILY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実際の業務フロー｜出社から退社まで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09 / 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57016"/>
            <a:ext cx="10637215" cy="254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99666" y="3493008"/>
            <a:ext cx="128016" cy="128016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" y="1956816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" y="2231136"/>
            <a:ext cx="19100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follow-up で今日の対応を確認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35074" y="28986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5074" y="28986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☀️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" y="2606040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出社</a:t>
            </a:r>
          </a:p>
        </p:txBody>
      </p:sp>
      <p:sp>
        <p:nvSpPr>
          <p:cNvPr id="18" name="Oval 17"/>
          <p:cNvSpPr/>
          <p:nvPr/>
        </p:nvSpPr>
        <p:spPr>
          <a:xfrm>
            <a:off x="3372535" y="3493008"/>
            <a:ext cx="128016" cy="128016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7943" y="386791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7943" y="386791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1529" y="4398264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新規開拓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1529" y="4690872"/>
            <a:ext cx="1910029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9:30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1529" y="4946904"/>
            <a:ext cx="19100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find で候補企業を探す（必要な日）</a:t>
            </a:r>
          </a:p>
        </p:txBody>
      </p:sp>
      <p:sp>
        <p:nvSpPr>
          <p:cNvPr id="24" name="Oval 23"/>
          <p:cNvSpPr/>
          <p:nvPr/>
        </p:nvSpPr>
        <p:spPr>
          <a:xfrm>
            <a:off x="5145404" y="3493008"/>
            <a:ext cx="128016" cy="128016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4398" y="1956816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10:30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4398" y="2231136"/>
            <a:ext cx="19100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send --preview で確認して送信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0812" y="28986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0812" y="28986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4398" y="2606040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メール送信</a:t>
            </a:r>
          </a:p>
        </p:txBody>
      </p:sp>
      <p:sp>
        <p:nvSpPr>
          <p:cNvPr id="30" name="Oval 29"/>
          <p:cNvSpPr/>
          <p:nvPr/>
        </p:nvSpPr>
        <p:spPr>
          <a:xfrm>
            <a:off x="6918273" y="3493008"/>
            <a:ext cx="128016" cy="128016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53681" y="386791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3681" y="386791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7267" y="4398264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返信対応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7267" y="4690872"/>
            <a:ext cx="1910029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13:00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7267" y="4946904"/>
            <a:ext cx="19100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返信を確認し update で商談を設定</a:t>
            </a:r>
          </a:p>
        </p:txBody>
      </p:sp>
      <p:sp>
        <p:nvSpPr>
          <p:cNvPr id="36" name="Oval 35"/>
          <p:cNvSpPr/>
          <p:nvPr/>
        </p:nvSpPr>
        <p:spPr>
          <a:xfrm>
            <a:off x="8691142" y="3493008"/>
            <a:ext cx="128016" cy="128016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0136" y="1956816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15:00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0136" y="2231136"/>
            <a:ext cx="19100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商談を実施する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26550" y="28986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6550" y="28986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00136" y="2606040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商談</a:t>
            </a:r>
          </a:p>
        </p:txBody>
      </p:sp>
      <p:sp>
        <p:nvSpPr>
          <p:cNvPr id="42" name="Oval 41"/>
          <p:cNvSpPr/>
          <p:nvPr/>
        </p:nvSpPr>
        <p:spPr>
          <a:xfrm>
            <a:off x="10464011" y="3493008"/>
            <a:ext cx="128016" cy="128016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299419" y="386791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9419" y="386791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3005" y="4398264"/>
            <a:ext cx="191002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振り返り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3005" y="4690872"/>
            <a:ext cx="1910029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17:30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3005" y="4946904"/>
            <a:ext cx="19100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report で1日の状況を確認して退社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SEND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メール送信方法｜4ステップで完了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10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2467279" cy="439826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176272"/>
            <a:ext cx="202836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2279" y="25511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2279" y="255117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191256"/>
            <a:ext cx="2028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テンプレート選択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694176"/>
            <a:ext cx="2028367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用途に合った文面を選ぶ（省略時は既定の文面）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4519" y="4018788"/>
            <a:ext cx="2560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0551" y="1956816"/>
            <a:ext cx="2467279" cy="439826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0007" y="2176272"/>
            <a:ext cx="202836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5590" y="25511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5590" y="255117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0007" y="3191256"/>
            <a:ext cx="2028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対象を自動抽出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0007" y="3694176"/>
            <a:ext cx="2028367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送信可否「○」かつ未送信の企業を自動でリストアップ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7830" y="4018788"/>
            <a:ext cx="2560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862" y="1956816"/>
            <a:ext cx="2467279" cy="439826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318" y="2176272"/>
            <a:ext cx="202836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8901" y="25511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8901" y="255117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3318" y="3191256"/>
            <a:ext cx="2028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プレビューで確認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318" y="3694176"/>
            <a:ext cx="2028367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宛先・件名・本文を一覧確認。気になる相手は今回だけ除外可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1141" y="4018788"/>
            <a:ext cx="2560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47173" y="1956816"/>
            <a:ext cx="2467279" cy="439826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6629" y="2176272"/>
            <a:ext cx="202836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52212" y="25511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52212" y="255117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6629" y="3191256"/>
            <a:ext cx="2028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送信・記録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6629" y="3694176"/>
            <a:ext cx="2028367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送信を実行し、結果を送信履歴に自動記録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SEND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送信前プレビュー画面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「誰に」「何を」送るかを送信前に必ず確認できます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11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6172200" cy="4398264"/>
          </a:xfrm>
          <a:prstGeom prst="roundRect">
            <a:avLst>
              <a:gd name="adj" fmla="val 2887"/>
            </a:avLst>
          </a:prstGeom>
          <a:solidFill>
            <a:srgbClr val="FAFBFC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1956816"/>
            <a:ext cx="6172200" cy="365760"/>
          </a:xfrm>
          <a:prstGeom prst="roundRect">
            <a:avLst>
              <a:gd name="adj" fmla="val 347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139696"/>
            <a:ext cx="617220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312416"/>
            <a:ext cx="6172200" cy="1016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1956816"/>
            <a:ext cx="5769864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16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SCREENSHOT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1860" y="3634740"/>
            <a:ext cx="822960" cy="82296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87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98164" y="3762756"/>
            <a:ext cx="146304" cy="146304"/>
          </a:xfrm>
          <a:prstGeom prst="ellips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3561588" y="3963924"/>
            <a:ext cx="603504" cy="384048"/>
          </a:xfrm>
          <a:prstGeom prst="triangl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0400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ここにスクリーンショットを挿入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914900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sales-pilot send --preview 実行画面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472" y="1984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1984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1956816"/>
            <a:ext cx="35689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使用テンプレートが一目でわかる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286000"/>
            <a:ext cx="3568903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どの文面で送るかをヘッダーに明示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5472" y="308381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3083814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3056382"/>
            <a:ext cx="35689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送信先を一覧で確認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385566"/>
            <a:ext cx="3568903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会社名・メール・件名をコンパクトに表示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5472" y="41833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418338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155948"/>
            <a:ext cx="35689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1社だけ本文全文を確認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4485132"/>
            <a:ext cx="3568903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番号を指定すれば全文をチェックできる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05472" y="528294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528294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5255514"/>
            <a:ext cx="35689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今回だけ送信対象から外せる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5584698"/>
            <a:ext cx="3568903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営業リストは変更せず、この回だけ除外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テンプレート管理｜用途別に文面を使い分け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12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2467279" cy="1783080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初回営業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090672"/>
            <a:ext cx="2028367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新規開拓の最初のご案内メール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0551" y="1956816"/>
            <a:ext cx="2467279" cy="1783080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20007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0007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0007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2回目フォロー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0007" y="3090672"/>
            <a:ext cx="2028367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反応がない企業への追いかけメール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862" y="1956816"/>
            <a:ext cx="2467279" cy="1783080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3318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318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318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商談後お礼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8" y="3090672"/>
            <a:ext cx="2028367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商談実施後のお礼・次のご案内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7173" y="1956816"/>
            <a:ext cx="2467279" cy="1783080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66629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6629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♻️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6629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再アプローチ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6629" y="3090672"/>
            <a:ext cx="2028367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時間を空けて再度ご案内するメール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995928"/>
            <a:ext cx="10637215" cy="2359152"/>
          </a:xfrm>
          <a:prstGeom prst="roundRect">
            <a:avLst>
              <a:gd name="adj" fmla="val 5383"/>
            </a:avLst>
          </a:prstGeom>
          <a:solidFill>
            <a:srgbClr val="FAFBFC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3995928"/>
            <a:ext cx="10637215" cy="365760"/>
          </a:xfrm>
          <a:prstGeom prst="roundRect">
            <a:avLst>
              <a:gd name="adj" fmla="val 347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4178808"/>
            <a:ext cx="10637215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351528"/>
            <a:ext cx="10637215" cy="1016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3995928"/>
            <a:ext cx="10234879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16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SCREENSHOT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84367" y="4654296"/>
            <a:ext cx="822960" cy="82296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87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30671" y="4782312"/>
            <a:ext cx="146304" cy="146304"/>
          </a:xfrm>
          <a:prstGeom prst="ellips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5794095" y="4983480"/>
            <a:ext cx="603504" cy="384048"/>
          </a:xfrm>
          <a:prstGeom prst="triangl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623560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ここにスクリーンショットを挿入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934456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sales-pilot template list 実行画面（★が既定のテンプレート）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フォローアップ画面｜今日やるべきことが一目でわかる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13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6172200" cy="4398264"/>
          </a:xfrm>
          <a:prstGeom prst="roundRect">
            <a:avLst>
              <a:gd name="adj" fmla="val 2887"/>
            </a:avLst>
          </a:prstGeom>
          <a:solidFill>
            <a:srgbClr val="FAFBFC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6172200" cy="365760"/>
          </a:xfrm>
          <a:prstGeom prst="roundRect">
            <a:avLst>
              <a:gd name="adj" fmla="val 347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139696"/>
            <a:ext cx="617220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312416"/>
            <a:ext cx="6172200" cy="1016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1956816"/>
            <a:ext cx="5769864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16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SCREENSHOT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1860" y="3634740"/>
            <a:ext cx="822960" cy="82296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87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98164" y="3762756"/>
            <a:ext cx="146304" cy="146304"/>
          </a:xfrm>
          <a:prstGeom prst="ellips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3561588" y="3963924"/>
            <a:ext cx="603504" cy="384048"/>
          </a:xfrm>
          <a:prstGeom prst="triangl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60400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ここにスクリーンショットを挿入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914900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sales-pilot follow-up 実行画面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5472" y="1994916"/>
            <a:ext cx="4208983" cy="102336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24928" y="227799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2277999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994916"/>
            <a:ext cx="3148279" cy="511683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本日の商談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506599"/>
            <a:ext cx="3148279" cy="511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今日が商談日の企業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5472" y="3094482"/>
            <a:ext cx="4208983" cy="102336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24928" y="3377565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8" y="3377565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B33A3A"/>
                </a:solidFill>
                <a:latin typeface="游ゴシック"/>
                <a:ea typeface="游ゴシック"/>
                <a:cs typeface="游ゴシック"/>
              </a:rPr>
              <a:t>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094482"/>
            <a:ext cx="3148279" cy="511683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要フォロー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606165"/>
            <a:ext cx="3148279" cy="511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返信なし7日以上、優先度が高い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5472" y="4194048"/>
            <a:ext cx="4208983" cy="102336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24928" y="447713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8" y="4477131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94048"/>
            <a:ext cx="3148279" cy="511683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明日の商談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705731"/>
            <a:ext cx="3148279" cy="511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明日が商談日の企業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5472" y="5293614"/>
            <a:ext cx="4208983" cy="102336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4928" y="5576697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928" y="5576697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293614"/>
            <a:ext cx="3148279" cy="511683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経過観察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805297"/>
            <a:ext cx="3148279" cy="511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返信なし3〜6日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営業レポート画面｜数字で状況を把握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14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10637215" cy="2468880"/>
          </a:xfrm>
          <a:prstGeom prst="roundRect">
            <a:avLst>
              <a:gd name="adj" fmla="val 5144"/>
            </a:avLst>
          </a:prstGeom>
          <a:solidFill>
            <a:srgbClr val="FAFBFC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10637215" cy="365760"/>
          </a:xfrm>
          <a:prstGeom prst="roundRect">
            <a:avLst>
              <a:gd name="adj" fmla="val 347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139696"/>
            <a:ext cx="10637215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312416"/>
            <a:ext cx="10637215" cy="1016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1956816"/>
            <a:ext cx="10234879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16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SCREENSHOT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4367" y="2670048"/>
            <a:ext cx="822960" cy="82296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87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30671" y="2798064"/>
            <a:ext cx="146304" cy="146304"/>
          </a:xfrm>
          <a:prstGeom prst="ellips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5794095" y="2999232"/>
            <a:ext cx="603504" cy="384048"/>
          </a:xfrm>
          <a:prstGeom prst="triangl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39312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ここにスクリーンショットを挿入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5020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sales-pilot report 実行画面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81728"/>
            <a:ext cx="1559509" cy="1673352"/>
          </a:xfrm>
          <a:prstGeom prst="roundRect">
            <a:avLst>
              <a:gd name="adj" fmla="val 6514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55826" y="4809744"/>
            <a:ext cx="402336" cy="402336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5826" y="4809744"/>
            <a:ext cx="4023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48656"/>
            <a:ext cx="155950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2781" y="4681728"/>
            <a:ext cx="1559509" cy="1673352"/>
          </a:xfrm>
          <a:prstGeom prst="roundRect">
            <a:avLst>
              <a:gd name="adj" fmla="val 6514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71367" y="4809744"/>
            <a:ext cx="402336" cy="402336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1367" y="4809744"/>
            <a:ext cx="4023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2781" y="5248656"/>
            <a:ext cx="155950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返信率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8322" y="4681728"/>
            <a:ext cx="1559509" cy="1673352"/>
          </a:xfrm>
          <a:prstGeom prst="roundRect">
            <a:avLst>
              <a:gd name="adj" fmla="val 6514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6908" y="4809744"/>
            <a:ext cx="402336" cy="402336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6908" y="4809744"/>
            <a:ext cx="4023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8322" y="5248656"/>
            <a:ext cx="155950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商談数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863" y="4681728"/>
            <a:ext cx="1559509" cy="1673352"/>
          </a:xfrm>
          <a:prstGeom prst="roundRect">
            <a:avLst>
              <a:gd name="adj" fmla="val 6514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02449" y="4809744"/>
            <a:ext cx="402336" cy="402336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2449" y="4809744"/>
            <a:ext cx="4023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3863" y="5248656"/>
            <a:ext cx="155950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成約数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39404" y="4681728"/>
            <a:ext cx="1559509" cy="1673352"/>
          </a:xfrm>
          <a:prstGeom prst="roundRect">
            <a:avLst>
              <a:gd name="adj" fmla="val 6514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17990" y="4809744"/>
            <a:ext cx="402336" cy="402336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7990" y="4809744"/>
            <a:ext cx="4023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9404" y="5248656"/>
            <a:ext cx="155950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失注数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54945" y="4681728"/>
            <a:ext cx="1559509" cy="1673352"/>
          </a:xfrm>
          <a:prstGeom prst="roundRect">
            <a:avLst>
              <a:gd name="adj" fmla="val 6514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33531" y="4809744"/>
            <a:ext cx="402336" cy="402336"/>
          </a:xfrm>
          <a:prstGeom prst="roundRect">
            <a:avLst>
              <a:gd name="adj" fmla="val 29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531" y="4809744"/>
            <a:ext cx="4023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4945" y="5248656"/>
            <a:ext cx="155950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配信停止数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営業ダッシュボード｜シート上でも状況を把握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コマンドを使わなくても、スプレッドシートを開くだけで状況を確認できます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15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10637215" cy="4398264"/>
          </a:xfrm>
          <a:prstGeom prst="roundRect">
            <a:avLst>
              <a:gd name="adj" fmla="val 2887"/>
            </a:avLst>
          </a:prstGeom>
          <a:solidFill>
            <a:srgbClr val="FAFBFC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1956816"/>
            <a:ext cx="10637215" cy="365760"/>
          </a:xfrm>
          <a:prstGeom prst="roundRect">
            <a:avLst>
              <a:gd name="adj" fmla="val 347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139696"/>
            <a:ext cx="10637215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312416"/>
            <a:ext cx="10637215" cy="1016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1956816"/>
            <a:ext cx="10234879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160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SCREENSHOT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4367" y="3634740"/>
            <a:ext cx="822960" cy="82296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87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30671" y="3762756"/>
            <a:ext cx="146304" cy="146304"/>
          </a:xfrm>
          <a:prstGeom prst="ellips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5794095" y="3963924"/>
            <a:ext cx="603504" cy="384048"/>
          </a:xfrm>
          <a:prstGeom prst="triangle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04004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ここにスクリーンショットを挿入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914900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Google スプレッドシート「営業ダッシュボード」タブ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WHAT'S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現在できること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営業担当が実務で使える機能はすべて完成しています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16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" y="2181987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181987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776" y="1956816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企業検索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1956816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3319" y="2181987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181987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3399" y="1956816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レビュー付き登録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120390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6696" y="334556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3345561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6776" y="3120390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メール送信（プレビュー・除外機能付き）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3863" y="3120390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3319" y="334556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319" y="3345561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3399" y="3120390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テンプレート管理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283964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696" y="4509135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4509135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36776" y="4283964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返信管理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863" y="4283964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43319" y="4509135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319" y="4509135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3399" y="4283964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進捗更新（商談・成約・失注）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447538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6696" y="567270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" y="5672709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6776" y="5447538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営業レポート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863" y="5447538"/>
            <a:ext cx="5190591" cy="907542"/>
          </a:xfrm>
          <a:prstGeom prst="roundRect">
            <a:avLst>
              <a:gd name="adj" fmla="val 13993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43319" y="567270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3319" y="5672709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3399" y="5447538"/>
            <a:ext cx="4148175" cy="907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フォローアップ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TRACK RECORD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開発実績｜基盤構築フェーズ（Issue #001〜#021）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2026年6月：ツールとして動くための土台を構築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17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ドメインモデル設計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090672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企業データの基本構造を定義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0551" y="1956816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20007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0007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0007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検索エンジン連携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0007" y="3090672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Google Maps 等から企業情報を収集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2" y="1956816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3318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8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8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Webサイト解析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318" y="3090672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企業サイトから連絡先等を自動補完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7173" y="1956816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66629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6629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6629" y="2761488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Sheets連携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6629" y="3090672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Google スプレッドシートと接続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283964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6696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" y="5088636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Gmail送信実装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" y="5417820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メール送信の仕組みを構築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00551" y="4283964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20007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0007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✍️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0007" y="5088636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パーソナライズ機能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0007" y="5417820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企業ごとに文面を自動調整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3862" y="4283964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43318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3318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3318" y="5088636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重複送信防止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3318" y="5417820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誤って二重送信しない仕組み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47173" y="4283964"/>
            <a:ext cx="2467279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66629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6629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6629" y="5088636"/>
            <a:ext cx="2028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企業ID連番管理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6629" y="5417820"/>
            <a:ext cx="2028367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C000001形式で安定管理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TRACK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開発実績｜機能拡充フェーズ①（Issue #022〜#026）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いずれも完了済みで、日々の営業活動で利用できます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18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56816"/>
            <a:ext cx="10637215" cy="384048"/>
          </a:xfrm>
          <a:prstGeom prst="rect">
            <a:avLst/>
          </a:prstGeom>
          <a:solidFill>
            <a:srgbClr val="14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56816"/>
            <a:ext cx="8229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56816"/>
            <a:ext cx="24688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機能名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56816"/>
            <a:ext cx="58521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概要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1956816"/>
            <a:ext cx="70408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完了日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40864"/>
            <a:ext cx="10637215" cy="802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340864"/>
            <a:ext cx="822960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340864"/>
            <a:ext cx="246888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データ管理の安定化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40864"/>
            <a:ext cx="576072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企業データの管理番号を統一し、シートを手動編集しても壊れない仕組みに強化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2340864"/>
            <a:ext cx="795528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143707"/>
            <a:ext cx="10637215" cy="802843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43707"/>
            <a:ext cx="822960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143707"/>
            <a:ext cx="246888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送信前プレビュー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43707"/>
            <a:ext cx="576072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メールを送る前に内容を確認できる画面を追加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3143707"/>
            <a:ext cx="795528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946550"/>
            <a:ext cx="10637215" cy="802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46550"/>
            <a:ext cx="822960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946550"/>
            <a:ext cx="246888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送信履歴の記録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946550"/>
            <a:ext cx="576072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誰にいつ送ったかをシートに自動記録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3946550"/>
            <a:ext cx="795528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749393"/>
            <a:ext cx="10637215" cy="802843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749393"/>
            <a:ext cx="822960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749393"/>
            <a:ext cx="246888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返信の自動検知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749393"/>
            <a:ext cx="576072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メールの返信を自動で検知しリストに反映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80" y="4749393"/>
            <a:ext cx="795528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552236"/>
            <a:ext cx="10637215" cy="802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52236"/>
            <a:ext cx="822960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552236"/>
            <a:ext cx="246888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営業ダッシュボード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552236"/>
            <a:ext cx="5760720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シート上で状況を自動集計するタブを新設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5552236"/>
            <a:ext cx="795528" cy="80284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1956816"/>
            <a:ext cx="10637215" cy="4398264"/>
          </a:xfrm>
          <a:prstGeom prst="rect">
            <a:avLst/>
          </a:prstGeom>
          <a:noFill/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3143707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3946550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4749393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552236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TRACK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開発実績｜機能拡充フェーズ②（Issue #027〜#032）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いずれも完了済みで、日々の営業活動で利用できます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19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56816"/>
            <a:ext cx="10637215" cy="384048"/>
          </a:xfrm>
          <a:prstGeom prst="rect">
            <a:avLst/>
          </a:prstGeom>
          <a:solidFill>
            <a:srgbClr val="14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56816"/>
            <a:ext cx="8229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56816"/>
            <a:ext cx="24688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機能名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56816"/>
            <a:ext cx="58521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概要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1956816"/>
            <a:ext cx="70408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6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完了日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40864"/>
            <a:ext cx="10637215" cy="669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340864"/>
            <a:ext cx="822960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340864"/>
            <a:ext cx="246888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営業レポート機能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40864"/>
            <a:ext cx="576072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送信率・返信率などをコマンド一つで確認可能に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2340864"/>
            <a:ext cx="795528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009900"/>
            <a:ext cx="10637215" cy="66903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009900"/>
            <a:ext cx="822960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009900"/>
            <a:ext cx="246888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ステータス更新機能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09900"/>
            <a:ext cx="576072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商談日・成約・失注をシートを開かずに更新可能に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3009900"/>
            <a:ext cx="795528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78936"/>
            <a:ext cx="10637215" cy="669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78936"/>
            <a:ext cx="822960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678936"/>
            <a:ext cx="246888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フォローアップ一覧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78936"/>
            <a:ext cx="576072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「今日やるべきこと」を自動表示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3678936"/>
            <a:ext cx="795528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47972"/>
            <a:ext cx="10637215" cy="66903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347972"/>
            <a:ext cx="822960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347972"/>
            <a:ext cx="246888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確認しながらの企業登録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347972"/>
            <a:ext cx="576072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検索結果を1件ずつ確認しながら登録可能に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80" y="4347972"/>
            <a:ext cx="795528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017008"/>
            <a:ext cx="10637215" cy="669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017008"/>
            <a:ext cx="822960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017008"/>
            <a:ext cx="246888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複数テンプレート管理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017008"/>
            <a:ext cx="576072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用途別メール文面を作成・編集・複製できる機能を追加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5017008"/>
            <a:ext cx="795528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686044"/>
            <a:ext cx="10637215" cy="66903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686044"/>
            <a:ext cx="822960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E8E5A"/>
                </a:solidFill>
                <a:latin typeface="Consolas"/>
                <a:ea typeface="Consolas"/>
                <a:cs typeface="Consolas"/>
              </a:rPr>
              <a:t>#032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686044"/>
            <a:ext cx="246888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送信前プレビューの改善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686044"/>
            <a:ext cx="5760720" cy="669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誰に何を送るか一覧確認でき、送りたくない相手を今回だけ除外可能に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5686044"/>
            <a:ext cx="795528" cy="6690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07/03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1956816"/>
            <a:ext cx="10637215" cy="4398264"/>
          </a:xfrm>
          <a:prstGeom prst="rect">
            <a:avLst/>
          </a:prstGeom>
          <a:noFill/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3009900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3678936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4347972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5017008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5686044"/>
            <a:ext cx="10637215" cy="9525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今後のロードマップ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20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3375050" cy="4398264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3375050" cy="777240"/>
          </a:xfrm>
          <a:prstGeom prst="roundRect">
            <a:avLst>
              <a:gd name="adj" fmla="val 16339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14016"/>
            <a:ext cx="3375050" cy="320040"/>
          </a:xfrm>
          <a:prstGeom prst="rect">
            <a:avLst/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" y="21168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211683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1956816"/>
            <a:ext cx="2424074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完了済み</a:t>
            </a:r>
          </a:p>
        </p:txBody>
      </p:sp>
      <p:sp>
        <p:nvSpPr>
          <p:cNvPr id="17" name="Oval 16"/>
          <p:cNvSpPr/>
          <p:nvPr/>
        </p:nvSpPr>
        <p:spPr>
          <a:xfrm>
            <a:off x="1014984" y="3090672"/>
            <a:ext cx="68580" cy="685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2962656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企業検索 / メール送信</a:t>
            </a:r>
          </a:p>
        </p:txBody>
      </p:sp>
      <p:sp>
        <p:nvSpPr>
          <p:cNvPr id="19" name="Oval 18"/>
          <p:cNvSpPr/>
          <p:nvPr/>
        </p:nvSpPr>
        <p:spPr>
          <a:xfrm>
            <a:off x="1014984" y="3621024"/>
            <a:ext cx="68580" cy="685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2" y="3493008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返信管理 / 進捗管理</a:t>
            </a:r>
          </a:p>
        </p:txBody>
      </p:sp>
      <p:sp>
        <p:nvSpPr>
          <p:cNvPr id="21" name="Oval 20"/>
          <p:cNvSpPr/>
          <p:nvPr/>
        </p:nvSpPr>
        <p:spPr>
          <a:xfrm>
            <a:off x="1014984" y="4151376"/>
            <a:ext cx="68580" cy="685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2" y="4023360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レポート / フォローアップ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1014984" y="4681728"/>
            <a:ext cx="68580" cy="685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2" y="4553712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複数テンプレート管理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" y="5212080"/>
            <a:ext cx="68580" cy="685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2" y="5084064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送信前プレビューの改善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8322" y="1956816"/>
            <a:ext cx="3375050" cy="4398264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08322" y="1956816"/>
            <a:ext cx="3375050" cy="777240"/>
          </a:xfrm>
          <a:prstGeom prst="roundRect">
            <a:avLst>
              <a:gd name="adj" fmla="val 16339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8322" y="2414016"/>
            <a:ext cx="3375050" cy="320040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27778" y="21168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7778" y="211683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A9700E"/>
                </a:solidFill>
                <a:latin typeface="游ゴシック"/>
                <a:ea typeface="游ゴシック"/>
                <a:cs typeface="游ゴシック"/>
              </a:rPr>
              <a:t>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9570" y="1956816"/>
            <a:ext cx="2424074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進行中</a:t>
            </a:r>
          </a:p>
        </p:txBody>
      </p:sp>
      <p:sp>
        <p:nvSpPr>
          <p:cNvPr id="33" name="Oval 32"/>
          <p:cNvSpPr/>
          <p:nvPr/>
        </p:nvSpPr>
        <p:spPr>
          <a:xfrm>
            <a:off x="4646066" y="3090672"/>
            <a:ext cx="68580" cy="68580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7234" y="2962656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現在なし</a:t>
            </a:r>
          </a:p>
        </p:txBody>
      </p:sp>
      <p:sp>
        <p:nvSpPr>
          <p:cNvPr id="35" name="Oval 34"/>
          <p:cNvSpPr/>
          <p:nvPr/>
        </p:nvSpPr>
        <p:spPr>
          <a:xfrm>
            <a:off x="4646066" y="3621024"/>
            <a:ext cx="68580" cy="68580"/>
          </a:xfrm>
          <a:prstGeom prst="ellipse">
            <a:avLst/>
          </a:prstGeom>
          <a:solidFill>
            <a:srgbClr val="A9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7234" y="3493008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次フェーズの機能を検討中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39404" y="1956816"/>
            <a:ext cx="3375050" cy="4398264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39404" y="1956816"/>
            <a:ext cx="3375050" cy="777240"/>
          </a:xfrm>
          <a:prstGeom prst="roundRect">
            <a:avLst>
              <a:gd name="adj" fmla="val 16339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39404" y="2414016"/>
            <a:ext cx="3375050" cy="3200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58860" y="21168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8860" y="211683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0652" y="1956816"/>
            <a:ext cx="2424074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今後予定</a:t>
            </a:r>
          </a:p>
        </p:txBody>
      </p:sp>
      <p:sp>
        <p:nvSpPr>
          <p:cNvPr id="43" name="Oval 42"/>
          <p:cNvSpPr/>
          <p:nvPr/>
        </p:nvSpPr>
        <p:spPr>
          <a:xfrm>
            <a:off x="8277148" y="3090672"/>
            <a:ext cx="68580" cy="68580"/>
          </a:xfrm>
          <a:prstGeom prst="ellipse">
            <a:avLst/>
          </a:prstGeom>
          <a:solidFill>
            <a:srgbClr val="8D9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78316" y="2962656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AIによる文面自動生成</a:t>
            </a:r>
          </a:p>
        </p:txBody>
      </p:sp>
      <p:sp>
        <p:nvSpPr>
          <p:cNvPr id="45" name="Oval 44"/>
          <p:cNvSpPr/>
          <p:nvPr/>
        </p:nvSpPr>
        <p:spPr>
          <a:xfrm>
            <a:off x="8277148" y="3621024"/>
            <a:ext cx="68580" cy="68580"/>
          </a:xfrm>
          <a:prstGeom prst="ellipse">
            <a:avLst/>
          </a:prstGeom>
          <a:solidFill>
            <a:srgbClr val="8D9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78316" y="3493008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Slack等への自動通知</a:t>
            </a:r>
          </a:p>
        </p:txBody>
      </p:sp>
      <p:sp>
        <p:nvSpPr>
          <p:cNvPr id="47" name="Oval 46"/>
          <p:cNvSpPr/>
          <p:nvPr/>
        </p:nvSpPr>
        <p:spPr>
          <a:xfrm>
            <a:off x="8277148" y="4151376"/>
            <a:ext cx="68580" cy="68580"/>
          </a:xfrm>
          <a:prstGeom prst="ellipse">
            <a:avLst/>
          </a:prstGeom>
          <a:solidFill>
            <a:srgbClr val="8D9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8316" y="4023360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導入時の初期設定を自動化</a:t>
            </a:r>
          </a:p>
        </p:txBody>
      </p:sp>
      <p:sp>
        <p:nvSpPr>
          <p:cNvPr id="49" name="Oval 48"/>
          <p:cNvSpPr/>
          <p:nvPr/>
        </p:nvSpPr>
        <p:spPr>
          <a:xfrm>
            <a:off x="8277148" y="4681728"/>
            <a:ext cx="68580" cy="68580"/>
          </a:xfrm>
          <a:prstGeom prst="ellipse">
            <a:avLst/>
          </a:prstGeom>
          <a:solidFill>
            <a:srgbClr val="8D9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8316" y="4553712"/>
            <a:ext cx="27166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leadScore の活用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VISION FOR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Version 1.0 で目指す姿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「使えるツール」から「手放せないツール」へ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21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AIによる文面自動生成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企業ごとに紹介文をAIが自動でカスタマイズし、返信率を高める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1956816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761488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Slack等への自動通知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090672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毎朝の状況を自動でお知らせし、CLIを開かなくても把握できる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導入設定の自動化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新しいスプレッドシートの初期設定をコマンドひとつで完了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3863" y="4283964"/>
            <a:ext cx="5190591" cy="2071116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3319" y="45034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319" y="45034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319" y="5088636"/>
            <a:ext cx="4751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優先度スコアの活用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5417820"/>
            <a:ext cx="4751679" cy="717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スコアの高い企業から優先的に連絡できるようにする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よくある質問｜使い方について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22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10637215" cy="1356360"/>
          </a:xfrm>
          <a:prstGeom prst="roundRect">
            <a:avLst>
              <a:gd name="adj" fmla="val 9363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6776" y="2157984"/>
            <a:ext cx="9558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シートを直接編集しても大丈夫？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" y="26365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26365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2636520"/>
            <a:ext cx="9558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はい。人が入力した値（送信可否・メモ等）は保護され、ツールが自動で上書きすることはありません。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22904"/>
            <a:ext cx="10637215" cy="1356360"/>
          </a:xfrm>
          <a:prstGeom prst="roundRect">
            <a:avLst>
              <a:gd name="adj" fmla="val 9363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6696" y="36423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64236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6776" y="3624072"/>
            <a:ext cx="9558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間違って送ってしまわないか心配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" y="41026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10260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776" y="4102608"/>
            <a:ext cx="9558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送信前に必ずプレビュー画面で内容を確認でき、送りたくない相手はその場で除外できます。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88992"/>
            <a:ext cx="10637215" cy="1356360"/>
          </a:xfrm>
          <a:prstGeom prst="roundRect">
            <a:avLst>
              <a:gd name="adj" fmla="val 9363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6696" y="51084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51084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36776" y="5090160"/>
            <a:ext cx="9558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エンジニアがいないと使えない？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" y="556869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56869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36776" y="5568696"/>
            <a:ext cx="9558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基本操作はコマンドを覚えるだけです。シートの確認は普段通りブラウザから可能です。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よくある質問｜運用について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23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10637215" cy="1356360"/>
          </a:xfrm>
          <a:prstGeom prst="roundRect">
            <a:avLst>
              <a:gd name="adj" fmla="val 9363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" y="2176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762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6776" y="2157984"/>
            <a:ext cx="9558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複数人で同時に使える？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" y="26365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26365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2636520"/>
            <a:ext cx="9558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現状は少人数チームでの利用を想定しています（詳細は運用ルールを参照）。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22904"/>
            <a:ext cx="10637215" cy="1356360"/>
          </a:xfrm>
          <a:prstGeom prst="roundRect">
            <a:avLst>
              <a:gd name="adj" fmla="val 9363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6696" y="36423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64236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6776" y="3624072"/>
            <a:ext cx="9558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メールの文面は毎回同じ？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" y="41026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10260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776" y="4102608"/>
            <a:ext cx="9558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いいえ。テンプレート機能で用途別（初回営業・フォロー等）に使い分けできます。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88992"/>
            <a:ext cx="10637215" cy="1356360"/>
          </a:xfrm>
          <a:prstGeom prst="roundRect">
            <a:avLst>
              <a:gd name="adj" fmla="val 9363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6696" y="51084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51084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36776" y="5090160"/>
            <a:ext cx="9558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うまく動かないときは？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" y="556869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56869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36776" y="5568696"/>
            <a:ext cx="95582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doctor コマンドで設定・接続状況を診断できます。解決しない場合は開発チームへご連絡ください。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OPERATION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運用ルール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24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5190591" cy="4398264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56816"/>
            <a:ext cx="5190591" cy="777240"/>
          </a:xfrm>
          <a:prstGeom prst="roundRect">
            <a:avLst>
              <a:gd name="adj" fmla="val 16339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14016"/>
            <a:ext cx="5190591" cy="320040"/>
          </a:xfrm>
          <a:prstGeom prst="rect">
            <a:avLst/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" y="21168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211683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1956816"/>
            <a:ext cx="4239615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守ること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" y="296265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2962656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" y="2935224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送信前は必ずプレビューで内容を確認する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" y="362102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3621024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3593592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手入力した項目（メモ等）はシート上で管理する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" y="427939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279392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8" y="4251960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迷ったときは doctor コマンドで状態を診断する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1956816"/>
            <a:ext cx="5190591" cy="4398264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23863" y="1956816"/>
            <a:ext cx="5190591" cy="777240"/>
          </a:xfrm>
          <a:prstGeom prst="roundRect">
            <a:avLst>
              <a:gd name="adj" fmla="val 16339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3863" y="2414016"/>
            <a:ext cx="5190591" cy="32004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43319" y="21168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3319" y="211683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B33A3A"/>
                </a:solidFill>
                <a:latin typeface="游ゴシック"/>
                <a:ea typeface="游ゴシック"/>
                <a:cs typeface="游ゴシック"/>
              </a:rPr>
              <a:t>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5111" y="1956816"/>
            <a:ext cx="4239615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避けること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3319" y="296265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3319" y="2962656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B33A3A"/>
                </a:solidFill>
                <a:latin typeface="游ゴシック"/>
                <a:ea typeface="游ゴシック"/>
                <a:cs typeface="游ゴシック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2231" y="2935224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--force オプションの乱用（重複送信の恐れ）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3319" y="362102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3319" y="3621024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B33A3A"/>
                </a:solidFill>
                <a:latin typeface="游ゴシック"/>
                <a:ea typeface="游ゴシック"/>
                <a:cs typeface="游ゴシック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2231" y="3593592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企業IDや送信履歴列の手動削除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3319" y="427939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3319" y="4279392"/>
            <a:ext cx="274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B33A3A"/>
                </a:solidFill>
                <a:latin typeface="游ゴシック"/>
                <a:ea typeface="游ゴシック"/>
                <a:cs typeface="游ゴシック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2231" y="4251960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既定テンプレートの削除（先に config で変更する）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MATURITY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現在の完成度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25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93976"/>
            <a:ext cx="2577007" cy="18288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3975" y="2093976"/>
            <a:ext cx="2577007" cy="18288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0710" y="2093976"/>
            <a:ext cx="2577007" cy="182880"/>
          </a:xfrm>
          <a:prstGeom prst="roundRect">
            <a:avLst>
              <a:gd name="adj" fmla="val 50000"/>
            </a:avLst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37445" y="2093976"/>
            <a:ext cx="2577007" cy="182880"/>
          </a:xfrm>
          <a:prstGeom prst="roundRect">
            <a:avLst>
              <a:gd name="adj" fmla="val 50000"/>
            </a:avLst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86584"/>
            <a:ext cx="257700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MVP完成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3975" y="2386584"/>
            <a:ext cx="257700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社内利用可能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3975" y="2660904"/>
            <a:ext cx="2577007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← 現在ここ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0710" y="2386584"/>
            <a:ext cx="257700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β版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7445" y="2386584"/>
            <a:ext cx="257700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正式版前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236976"/>
            <a:ext cx="10637215" cy="3118104"/>
          </a:xfrm>
          <a:prstGeom prst="roundRect">
            <a:avLst>
              <a:gd name="adj" fmla="val 4072"/>
            </a:avLst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511296"/>
            <a:ext cx="3657600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60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評価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67328"/>
            <a:ext cx="9144000" cy="5029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社内利用可能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34256"/>
            <a:ext cx="9814255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企業探しからメール送信、返信・商談・成約管理、日々の状況把握まで、営業担当が実務で必要な作業を一通りツールだけで完結できる段階です。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0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02920"/>
            <a:ext cx="82296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26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56816"/>
            <a:ext cx="3375050" cy="4398264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6165" y="227685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6165" y="227685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16936"/>
            <a:ext cx="300929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営業担当は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28416"/>
            <a:ext cx="2826410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企業探しから成約管理まで、シートを開かずにCLIだけで完結できます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8322" y="1956816"/>
            <a:ext cx="3375050" cy="4398264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67247" y="227685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7247" y="227685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1202" y="2916936"/>
            <a:ext cx="300929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経営層は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2642" y="3328416"/>
            <a:ext cx="2826410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レポート・ダッシュボードでいつでも進捗状況を確認できます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404" y="1956816"/>
            <a:ext cx="3375050" cy="4398264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E7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98329" y="227685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8329" y="227685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A5568"/>
                </a:solidFill>
                <a:latin typeface="游ゴシック"/>
                <a:ea typeface="游ゴシック"/>
                <a:cs typeface="游ゴシック"/>
              </a:rP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2284" y="2916936"/>
            <a:ext cx="300929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50" b="1">
                <a:solidFill>
                  <a:srgbClr val="141B26"/>
                </a:solidFill>
                <a:latin typeface="游ゴシック"/>
                <a:ea typeface="游ゴシック"/>
                <a:cs typeface="游ゴシック"/>
              </a:rPr>
              <a:t>これからも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3724" y="3328416"/>
            <a:ext cx="2826410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4A5666"/>
                </a:solidFill>
                <a:latin typeface="游ゴシック"/>
                <a:ea typeface="游ゴシック"/>
                <a:cs typeface="游ゴシック"/>
              </a:rPr>
              <a:t>AI活用・自動通知など、さらに手間を減らす機能を継続的に追加します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455664"/>
            <a:ext cx="10637215" cy="11430"/>
          </a:xfrm>
          <a:prstGeom prst="rect">
            <a:avLst/>
          </a:prstGeom>
          <a:solidFill>
            <a:srgbClr val="E7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D99A8"/>
                </a:solidFill>
                <a:latin typeface="Consolas"/>
                <a:ea typeface="Consolas"/>
                <a:cs typeface="Consolas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noFill/>
          <a:ln w="15875">
            <a:solidFill>
              <a:srgbClr val="18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96128" y="2331720"/>
            <a:ext cx="1005840" cy="1005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96128" y="2331720"/>
            <a:ext cx="1005840" cy="1005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38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ご不明点はお気軽にお問い合わせください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C7D3EA"/>
                </a:solidFill>
                <a:latin typeface="游ゴシック"/>
                <a:ea typeface="游ゴシック"/>
                <a:cs typeface="游ゴシック"/>
              </a:rPr>
              <a:t>Sales Pilot AI 開発チーム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60152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8A9EC9"/>
                </a:solidFill>
                <a:latin typeface="游ゴシック"/>
                <a:ea typeface="游ゴシック"/>
                <a:cs typeface="游ゴシック"/>
              </a:rPr>
              <a:t>困ったときは、まず sales-pilot doctor で状態を確認してください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65392"/>
            <a:ext cx="64008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9AA9C4"/>
                </a:solidFill>
                <a:latin typeface="游ゴシック"/>
                <a:ea typeface="游ゴシック"/>
                <a:cs typeface="游ゴシック"/>
              </a:rPr>
              <a:t>Sales Pilot AI ｜ 社内利用マニュアル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565392"/>
            <a:ext cx="1280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AA9C4"/>
                </a:solidFill>
                <a:latin typeface="Consolas"/>
                <a:ea typeface="Consolas"/>
                <a:cs typeface="Consolas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