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331720"/>
            <a:ext cx="7315200" cy="25603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 spc="26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SALES PILOT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4128" y="2670048"/>
            <a:ext cx="548640" cy="3302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880360"/>
            <a:ext cx="10058400" cy="10058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48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Sales Pilot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639312"/>
            <a:ext cx="9144000" cy="5029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導入・運用ガイド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943600"/>
            <a:ext cx="7315200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Version 1.0　｜　2026年7月　｜　Sales Pilot AI 開発チーム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目次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2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81328"/>
            <a:ext cx="548640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481328"/>
            <a:ext cx="7315200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Sales Pilot AIについて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7055" y="1481328"/>
            <a:ext cx="1828800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P.03–09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258568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258568"/>
            <a:ext cx="548640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258568"/>
            <a:ext cx="7315200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機能の詳しい使い方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7055" y="2258568"/>
            <a:ext cx="1828800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P.10–16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035808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035808"/>
            <a:ext cx="548640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035808"/>
            <a:ext cx="7315200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運用イメージ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7055" y="3035808"/>
            <a:ext cx="1828800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P.17–20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813048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813048"/>
            <a:ext cx="548640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3813048"/>
            <a:ext cx="7315200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実績・今後の展望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7055" y="3813048"/>
            <a:ext cx="1828800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P.21–23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590288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590288"/>
            <a:ext cx="548640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20" y="4590288"/>
            <a:ext cx="7315200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導入にあたって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7055" y="4590288"/>
            <a:ext cx="1828800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P.24–26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エグゼクティブサマリー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3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481328"/>
            <a:ext cx="4952847" cy="2194560"/>
          </a:xfrm>
          <a:prstGeom prst="roundRect">
            <a:avLst>
              <a:gd name="adj" fmla="val 462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1481328"/>
            <a:ext cx="45720" cy="219456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82496"/>
            <a:ext cx="42213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検索から商談記録まで、1つのツールで完結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40864"/>
            <a:ext cx="4221327" cy="11521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営業担当者の新規開拓業務を支援するAIツールです。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1481328"/>
            <a:ext cx="4952847" cy="2194560"/>
          </a:xfrm>
          <a:prstGeom prst="roundRect">
            <a:avLst>
              <a:gd name="adj" fmla="val 462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3007" y="1481328"/>
            <a:ext cx="45720" cy="219456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682496"/>
            <a:ext cx="42213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属人化した抜け漏れを、仕組みで防ぐ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8767" y="2340864"/>
            <a:ext cx="4221327" cy="11521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企業探しやメール対応の時間、フォロー漏れといった営業現場の課題を解決します。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" y="3813048"/>
            <a:ext cx="4952847" cy="2194560"/>
          </a:xfrm>
          <a:prstGeom prst="roundRect">
            <a:avLst>
              <a:gd name="adj" fmla="val 462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05840" y="3813048"/>
            <a:ext cx="45720" cy="219456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014216"/>
            <a:ext cx="42213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7つの機能は、すでにすべて利用可能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672584"/>
            <a:ext cx="4221327" cy="11521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企業検索からレポートまで、7つの機能がすでに社内で使える状態です。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3007" y="3813048"/>
            <a:ext cx="4952847" cy="2194560"/>
          </a:xfrm>
          <a:prstGeom prst="roundRect">
            <a:avLst>
              <a:gd name="adj" fmla="val 4629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3007" y="3813048"/>
            <a:ext cx="45720" cy="219456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98767" y="4014216"/>
            <a:ext cx="4221327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追加投資なしで、生産性を底上げ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98767" y="4672584"/>
            <a:ext cx="4221327" cy="11521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時間削減・フォロー漏れ防止・状況の可視化・作業標準化が期待できます。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ABOUT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検索から商談記録まで、1つのツールで完結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4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481328"/>
            <a:ext cx="10180015" cy="914400"/>
          </a:xfrm>
          <a:prstGeom prst="roundRect">
            <a:avLst>
              <a:gd name="adj" fmla="val 11111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81328"/>
            <a:ext cx="944849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一言で表すなら、営業担当者の新規開拓業務を支援する</a:t>
            </a: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AIツール</a:t>
            </a:r>
            <a:r>
              <a:rPr sz="1500" b="0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70048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Sales Pilot AI でできること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35808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3035808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企業探しからメール送信、返信管理まで、営業の一連の業務をひとつのツールで完結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13557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3313557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ふだんお使いのGoogleスプレッドシートやGmailと連携するため、新しいシステムを一から覚える必要なし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91306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3591306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操作は簡単な言葉を入力するだけで、専門知識がなくてもすぐに使いこなせる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051935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この資料でわかること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17695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4417695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Sales Pilot AI が何を解決するツールなのか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95444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4695444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実際の使い方と、日々の業務での活かし方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73193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25296" y="4973193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現在の完成度と、今後の展望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属人化した抜け漏れを、仕組みで防ぐ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5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営業現場でよくある課題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47088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1847088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新規開拓の企業リスト作成に、想定以上の時間がかかっていた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24837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2124837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メール送信やフォローアップの対応が担当者に委ねられ、抜け漏れが後を絶たなかった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02586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2402586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商談やクロージングに充てるべき時間が、日々の事務作業によって圧迫されていた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908935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Sales Pilot AI による解決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274695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3274695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企業探しからメール送信までを自動化し、作業時間を削減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552444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3552444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返信やフォロー状況を自動で管理し、対応漏れを防止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830193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830193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営業担当者が商談・クロージングにより多くの時間を充てられる体制を構築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7つの機能は、すでにすべて利用可能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6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それぞれの機能が、営業のどんな成果につながるかは以下の通りです。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329184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 spc="10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167128"/>
            <a:ext cx="6888175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1" spc="10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得られる効果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532888"/>
            <a:ext cx="10180015" cy="12700"/>
          </a:xfrm>
          <a:prstGeom prst="rect">
            <a:avLst/>
          </a:prstGeom>
          <a:solidFill>
            <a:srgbClr val="D6D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624328"/>
            <a:ext cx="3291840" cy="5329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企業検索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624328"/>
            <a:ext cx="6888175" cy="5329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営業リスト作成の時間を短縮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157292"/>
            <a:ext cx="10180015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157292"/>
            <a:ext cx="3291840" cy="5329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メール送信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157292"/>
            <a:ext cx="6888175" cy="5329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送信作業の自動化と誤送信の抑制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690257"/>
            <a:ext cx="10180015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690257"/>
            <a:ext cx="3291840" cy="5329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テンプレート管理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690257"/>
            <a:ext cx="6888175" cy="5329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状況に応じた文面の使い分け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223221"/>
            <a:ext cx="10180015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223221"/>
            <a:ext cx="3291840" cy="5329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返信確認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223221"/>
            <a:ext cx="6888175" cy="5329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返信の見落としを防止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756186"/>
            <a:ext cx="10180015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756186"/>
            <a:ext cx="3291840" cy="5329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商談管理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4756186"/>
            <a:ext cx="6888175" cy="5329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商談・成約の進捗を一元管理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289150"/>
            <a:ext cx="10180015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289150"/>
            <a:ext cx="3291840" cy="5329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フォローアップ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289150"/>
            <a:ext cx="6888175" cy="5329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対応の優先順位を可視化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5822115"/>
            <a:ext cx="10180015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5822115"/>
            <a:ext cx="3291840" cy="53296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営業レポート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5822115"/>
            <a:ext cx="6888175" cy="5329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活動状況を数字で把握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Sales Pilot AIが3つの外部サービスをつなぐ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7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180015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営業担当がSales Pilot AIを操作すると、</a:t>
            </a:r>
            <a:r>
              <a:rPr sz="1350" b="1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3つの外部サービス</a:t>
            </a: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と自動で連携します。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24247" y="2167128"/>
            <a:ext cx="2743200" cy="566928"/>
          </a:xfrm>
          <a:prstGeom prst="roundRect">
            <a:avLst>
              <a:gd name="adj" fmla="val 17921"/>
            </a:avLst>
          </a:prstGeom>
          <a:solidFill>
            <a:srgbClr val="FFFFFF"/>
          </a:solidFill>
          <a:ln w="1397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4247" y="2167128"/>
            <a:ext cx="2743200" cy="56692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営業担当者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" y="2753106"/>
            <a:ext cx="0" cy="246126"/>
          </a:xfrm>
          <a:prstGeom prst="line">
            <a:avLst/>
          </a:prstGeom>
          <a:ln w="19050">
            <a:solidFill>
              <a:srgbClr val="2454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10800000">
            <a:off x="6022695" y="2999232"/>
            <a:ext cx="146304" cy="118872"/>
          </a:xfrm>
          <a:prstGeom prst="triangle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84167" y="3118104"/>
            <a:ext cx="4023360" cy="868680"/>
          </a:xfrm>
          <a:prstGeom prst="roundRect">
            <a:avLst>
              <a:gd name="adj" fmla="val 14619"/>
            </a:avLst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4167" y="3118104"/>
            <a:ext cx="4023360" cy="8686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游ゴシック"/>
                <a:ea typeface="游ゴシック"/>
                <a:cs typeface="游ゴシック"/>
              </a:rPr>
              <a:t>Sales Pilot AI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" y="4005834"/>
            <a:ext cx="0" cy="255270"/>
          </a:xfrm>
          <a:prstGeom prst="line">
            <a:avLst/>
          </a:prstGeom>
          <a:ln w="19050">
            <a:solidFill>
              <a:srgbClr val="D6DB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580589" y="4261104"/>
            <a:ext cx="7030516" cy="0"/>
          </a:xfrm>
          <a:prstGeom prst="line">
            <a:avLst/>
          </a:prstGeom>
          <a:ln w="19050">
            <a:solidFill>
              <a:srgbClr val="D6DB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580589" y="4261104"/>
            <a:ext cx="0" cy="255270"/>
          </a:xfrm>
          <a:prstGeom prst="line">
            <a:avLst/>
          </a:prstGeom>
          <a:ln w="19050">
            <a:solidFill>
              <a:srgbClr val="D6DB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95847" y="4261104"/>
            <a:ext cx="0" cy="255270"/>
          </a:xfrm>
          <a:prstGeom prst="line">
            <a:avLst/>
          </a:prstGeom>
          <a:ln w="19050">
            <a:solidFill>
              <a:srgbClr val="D6DB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11105" y="4261104"/>
            <a:ext cx="0" cy="255270"/>
          </a:xfrm>
          <a:prstGeom prst="line">
            <a:avLst/>
          </a:prstGeom>
          <a:ln w="19050">
            <a:solidFill>
              <a:srgbClr val="D6DB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5840" y="4535424"/>
            <a:ext cx="3149498" cy="1417320"/>
          </a:xfrm>
          <a:prstGeom prst="roundRect">
            <a:avLst>
              <a:gd name="adj" fmla="val 7168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736592"/>
            <a:ext cx="27837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Google Maps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312664"/>
            <a:ext cx="278373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企業情報を検索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1098" y="4535424"/>
            <a:ext cx="3149498" cy="1417320"/>
          </a:xfrm>
          <a:prstGeom prst="roundRect">
            <a:avLst>
              <a:gd name="adj" fmla="val 7168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3978" y="4736592"/>
            <a:ext cx="27837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Google スプレッドシート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3978" y="5312664"/>
            <a:ext cx="278373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営業リストを保存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36356" y="4535424"/>
            <a:ext cx="3149498" cy="1417320"/>
          </a:xfrm>
          <a:prstGeom prst="roundRect">
            <a:avLst>
              <a:gd name="adj" fmla="val 7168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9236" y="4736592"/>
            <a:ext cx="278373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Gmail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9236" y="5312664"/>
            <a:ext cx="278373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メール送信・返信確認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SALES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6つの工程を、ひとつのツールで一貫サポート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8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180015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企業探しから成約まで、営業活動のすべての工程をSales Pilot AIがサポートします。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2167128"/>
            <a:ext cx="1429969" cy="13716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97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167128"/>
            <a:ext cx="124708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企業検索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61209" y="2852928"/>
            <a:ext cx="269240" cy="0"/>
          </a:xfrm>
          <a:prstGeom prst="line">
            <a:avLst/>
          </a:prstGeom>
          <a:ln w="19050">
            <a:solidFill>
              <a:srgbClr val="2454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2609545" y="2779776"/>
            <a:ext cx="146304" cy="146304"/>
          </a:xfrm>
          <a:prstGeom prst="triangle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755849" y="2167128"/>
            <a:ext cx="1429969" cy="13716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97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47289" y="2167128"/>
            <a:ext cx="124708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メール送信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11218" y="2852928"/>
            <a:ext cx="269240" cy="0"/>
          </a:xfrm>
          <a:prstGeom prst="line">
            <a:avLst/>
          </a:prstGeom>
          <a:ln w="19050">
            <a:solidFill>
              <a:srgbClr val="2454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Isosceles Triangle 16"/>
          <p:cNvSpPr/>
          <p:nvPr/>
        </p:nvSpPr>
        <p:spPr>
          <a:xfrm rot="5400000">
            <a:off x="4359554" y="2779776"/>
            <a:ext cx="146304" cy="146304"/>
          </a:xfrm>
          <a:prstGeom prst="triangle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05858" y="2167128"/>
            <a:ext cx="1429969" cy="13716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97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7298" y="2167128"/>
            <a:ext cx="124708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返信確認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61227" y="2852928"/>
            <a:ext cx="269240" cy="0"/>
          </a:xfrm>
          <a:prstGeom prst="line">
            <a:avLst/>
          </a:prstGeom>
          <a:ln w="19050">
            <a:solidFill>
              <a:srgbClr val="2454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Isosceles Triangle 20"/>
          <p:cNvSpPr/>
          <p:nvPr/>
        </p:nvSpPr>
        <p:spPr>
          <a:xfrm rot="5400000">
            <a:off x="6109563" y="2779776"/>
            <a:ext cx="146304" cy="146304"/>
          </a:xfrm>
          <a:prstGeom prst="triangle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55867" y="2167128"/>
            <a:ext cx="1429969" cy="13716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97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47307" y="2167128"/>
            <a:ext cx="124708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フォローアップ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11236" y="2852928"/>
            <a:ext cx="269240" cy="0"/>
          </a:xfrm>
          <a:prstGeom prst="line">
            <a:avLst/>
          </a:prstGeom>
          <a:ln w="19050">
            <a:solidFill>
              <a:srgbClr val="2454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7859572" y="2779776"/>
            <a:ext cx="146304" cy="146304"/>
          </a:xfrm>
          <a:prstGeom prst="triangle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05876" y="2167128"/>
            <a:ext cx="1429969" cy="13716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97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7316" y="2167128"/>
            <a:ext cx="124708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商談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461245" y="2852928"/>
            <a:ext cx="269240" cy="0"/>
          </a:xfrm>
          <a:prstGeom prst="line">
            <a:avLst/>
          </a:prstGeom>
          <a:ln w="19050">
            <a:solidFill>
              <a:srgbClr val="2454A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9609581" y="2779776"/>
            <a:ext cx="146304" cy="146304"/>
          </a:xfrm>
          <a:prstGeom prst="triangle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55885" y="2167128"/>
            <a:ext cx="1429969" cy="13716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397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47325" y="2167128"/>
            <a:ext cx="1247089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成約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5840" y="3995928"/>
            <a:ext cx="10180015" cy="868680"/>
          </a:xfrm>
          <a:prstGeom prst="roundRect">
            <a:avLst>
              <a:gd name="adj" fmla="val 11695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3995928"/>
            <a:ext cx="9448495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営業担当が個別に管理していた</a:t>
            </a: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6つの工程</a:t>
            </a:r>
            <a:r>
              <a:rPr sz="1500" b="0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を、Sales Pilot AIがひとつのツールでつなぎます。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用語説明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9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1800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ここまでで全体像はつかめたと思います。このあと機能を詳しく説明する前に、出てくる言葉を先に簡単に説明します。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67128"/>
            <a:ext cx="2377440" cy="697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CLI（コマンド）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167128"/>
            <a:ext cx="7528255" cy="697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パソコンに文字を入力して指示を出す操作方法。専門知識は不要で、決まった言葉を入力するだけです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857500"/>
            <a:ext cx="10180015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865120"/>
            <a:ext cx="2377440" cy="697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テンプレート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65120"/>
            <a:ext cx="7528255" cy="697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メールの「ひな形」のこと。用途に合わせて複数用意できます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555492"/>
            <a:ext cx="10180015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563112"/>
            <a:ext cx="2377440" cy="697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スプレッドシート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3563112"/>
            <a:ext cx="7528255" cy="697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Googleの表計算ツール（Excelのようなもの）。営業データの保存場所です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253484"/>
            <a:ext cx="10180015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61104"/>
            <a:ext cx="2377440" cy="697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ステータス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261104"/>
            <a:ext cx="7528255" cy="697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「未送信」「送信済」「返信あり」など、進行状況を表す言葉です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951476"/>
            <a:ext cx="10180015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59096"/>
            <a:ext cx="2377440" cy="697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ダッシュボード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959096"/>
            <a:ext cx="7528255" cy="697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状況をひと目で確認できる一覧画面です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649468"/>
            <a:ext cx="10180015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657088"/>
            <a:ext cx="2377440" cy="697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プレビュー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657088"/>
            <a:ext cx="7528255" cy="697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実行する前に、内容を事前に確認する画面のことです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企業検索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10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1800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新しい営業先を探したいときに使います。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48256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使い方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14016"/>
            <a:ext cx="36576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14016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業種と地域を指定して検索を実行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10053"/>
            <a:ext cx="36576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10053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候補を1件ずつ確認し、保存するか選択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06090"/>
            <a:ext cx="36576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06090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選んだ企業が自動で営業リストへ登録される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76447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ポイント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42207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3942207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メールアドレスの取得や重複チェックも自動で行われます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74820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4274820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手作業に比べ、リスト作成の時間を大幅に短縮できます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メール送信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11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1800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営業リストの企業へ、まとめてご案内メールを送りたいときに使います。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48256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使い方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14016"/>
            <a:ext cx="36576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14016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使用する文面（テンプレート）を選ぶ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10053"/>
            <a:ext cx="36576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10053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送信前にプレビューで宛先・件名・本文を確認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006090"/>
            <a:ext cx="36576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06090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気になる相手は除外し、内容を確認して送信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576447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ポイント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42207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3942207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送信前に必ず内容を確認できるため、誤送信の心配がありません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74820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4274820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送信結果は自動で記録され、後から振り返ることもできます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テンプレート管理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12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1800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初回営業・フォロー・お礼など、目的に応じて文面を使い分けたいときに使います。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48256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使い方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14016"/>
            <a:ext cx="36576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14016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用意されている文面の一覧から目的に合うものを選ぶ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10053"/>
            <a:ext cx="36576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10053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必要であれば新しい文面を作成・編集する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80410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ポイント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46170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3646170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既存の文面を複製して、素早く新しい文面を用意できます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8783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3978783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状況に応じた最適な文面で、営業の質を保てます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返信確認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13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1800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送信したメールに返信が来ているか確認したいときに使います。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48256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使い方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14016"/>
            <a:ext cx="36576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14016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返信確認を実行する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10053"/>
            <a:ext cx="36576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10053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Gmailの返信を自動で検知し、営業リストに反映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80410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ポイント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46170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3646170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実行するだけで、誰から返信があったかが一覧でわかります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8783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3978783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手作業でメールボックスを確認する手間がなくなります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商談管理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14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1800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商談が決まったとき、または成約・失注の結果が出たときに使います。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48256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使い方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14016"/>
            <a:ext cx="36576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14016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対象の企業を指定する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10053"/>
            <a:ext cx="36576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10053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商談日・成約・失注・メモを記録する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80410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ポイント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46170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3646170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スプレッドシートを開かずに、その場で進捗を更新できます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8783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3978783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記録した内容は営業レポートやフォローアップに自動で反映されます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フォローアップ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15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1800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「今日、誰に連絡すべきか」を確認したいときに使います。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48256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使い方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14016"/>
            <a:ext cx="36576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14016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フォローアップの一覧を表示する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10053"/>
            <a:ext cx="36576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10053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優先順位順に並んだリストから対応する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80410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ポイント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46170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3646170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本日・明日の商談や、返信待ちの企業が自動で優先順位付けされます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8783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3978783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対応漏れの防止と、判断にかかる時間の削減につながります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営業レポート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16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1800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営業活動全体の状況を数字で把握したいときに使います。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48256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使い方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14016"/>
            <a:ext cx="36576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414016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レポートを表示する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710053"/>
            <a:ext cx="365760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10053"/>
            <a:ext cx="98142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送信率・返信率・商談数などをまとめて確認する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280410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ポイント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46170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3646170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スプレッドシートを1件ずつ見なくても、全体の状況を数字で把握できます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978783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3978783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報告資料の作成にかかる手間も削減できます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BEFORE /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勘に頼った対応から、仕組みによる対応へ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17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4815687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導入前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1481328"/>
            <a:ext cx="4815687" cy="32004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導入後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5847" y="1481328"/>
            <a:ext cx="12700" cy="4873752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984248"/>
            <a:ext cx="320040" cy="10927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1984248"/>
            <a:ext cx="4449927" cy="10927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企業探しに半日以上かけていた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1984248"/>
            <a:ext cx="320040" cy="10927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35927" y="1984248"/>
            <a:ext cx="3901287" cy="10927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条件を入力するだけで候補が自動的に集まる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076956"/>
            <a:ext cx="4815687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70167" y="3076956"/>
            <a:ext cx="4815687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076956"/>
            <a:ext cx="320040" cy="10927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076956"/>
            <a:ext cx="4449927" cy="10927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送信やフォローが担当者の記憶と勘に頼っていた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3076956"/>
            <a:ext cx="320040" cy="10927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5927" y="3076956"/>
            <a:ext cx="3901287" cy="10927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送信前に必ず内容を確認し、フォロー漏れも自動で表示される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169664"/>
            <a:ext cx="4815687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70167" y="4169664"/>
            <a:ext cx="4815687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169664"/>
            <a:ext cx="320040" cy="10927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169664"/>
            <a:ext cx="4449927" cy="10927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進捗はスプレッドシートを都度開いて手入力していた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0167" y="4169664"/>
            <a:ext cx="320040" cy="10927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5927" y="4169664"/>
            <a:ext cx="3901287" cy="10927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商談・成約の記録をシートを開かずに更新できる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262372"/>
            <a:ext cx="4815687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70167" y="5262372"/>
            <a:ext cx="4815687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262372"/>
            <a:ext cx="320040" cy="10927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62372"/>
            <a:ext cx="4449927" cy="10927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営業状況の把握に集計作業が必要だった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167" y="5262372"/>
            <a:ext cx="320040" cy="10927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35927" y="5262372"/>
            <a:ext cx="3901287" cy="10927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数字での状況把握が、いつでもすぐにできる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A DAY WITH SALES PILOT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日々の営業活動に、無理なく組み込める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18 / 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94560" y="1684401"/>
            <a:ext cx="0" cy="4467606"/>
          </a:xfrm>
          <a:prstGeom prst="line">
            <a:avLst/>
          </a:prstGeom>
          <a:ln w="19050">
            <a:solidFill>
              <a:srgbClr val="D6DB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05840" y="1481328"/>
            <a:ext cx="914400" cy="8122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Consolas"/>
                <a:ea typeface="Consolas"/>
                <a:cs typeface="Consolas"/>
              </a:rPr>
              <a:t>9:00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3760" y="1836674"/>
            <a:ext cx="101600" cy="10160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481328"/>
            <a:ext cx="8671255" cy="812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出社。今日やるべきことを確認する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293620"/>
            <a:ext cx="914400" cy="8122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Consolas"/>
                <a:ea typeface="Consolas"/>
                <a:cs typeface="Consolas"/>
              </a:rPr>
              <a:t>9:30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43760" y="2648966"/>
            <a:ext cx="101600" cy="10160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14600" y="2293620"/>
            <a:ext cx="8671255" cy="812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必要に応じて新しい企業を検索する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05912"/>
            <a:ext cx="914400" cy="8122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Consolas"/>
                <a:ea typeface="Consolas"/>
                <a:cs typeface="Consolas"/>
              </a:rPr>
              <a:t>10:30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3760" y="3461258"/>
            <a:ext cx="101600" cy="10160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514600" y="3105912"/>
            <a:ext cx="8671255" cy="812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内容を確認してメールを送信する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918204"/>
            <a:ext cx="914400" cy="8122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Consolas"/>
                <a:ea typeface="Consolas"/>
                <a:cs typeface="Consolas"/>
              </a:rPr>
              <a:t>13:00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43760" y="4273550"/>
            <a:ext cx="101600" cy="10160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3918204"/>
            <a:ext cx="8671255" cy="812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返信を確認し、商談日を記録する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730496"/>
            <a:ext cx="914400" cy="8122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Consolas"/>
                <a:ea typeface="Consolas"/>
                <a:cs typeface="Consolas"/>
              </a:rPr>
              <a:t>15:00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3760" y="5085842"/>
            <a:ext cx="101600" cy="10160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14600" y="4730496"/>
            <a:ext cx="8671255" cy="812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商談を実施する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542788"/>
            <a:ext cx="914400" cy="8122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Consolas"/>
                <a:ea typeface="Consolas"/>
                <a:cs typeface="Consolas"/>
              </a:rPr>
              <a:t>17:30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43760" y="5898134"/>
            <a:ext cx="101600" cy="10160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4600" y="5542788"/>
            <a:ext cx="8671255" cy="8122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1日の状況をレポートで確認して退社する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WHERE YOUR DATA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データは今まで通りスプレッドシートにある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19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採用の理由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47088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1847088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すべての情報はGoogleスプレッドシートに保存され、いつでも直接開いて確認できる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79701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2179701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すでに社内で使われているツールのため、新しい仕組みを覚える負担がない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12314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2512314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Googleのアクセス権限管理・セキュリティ基盤を、そのまま活用できる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44927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2844927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手で入力した内容（メモ等）は自動的に保護され、ツールが勝手に上書きすることはない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3497580"/>
            <a:ext cx="10180015" cy="2857500"/>
          </a:xfrm>
          <a:prstGeom prst="roundRect">
            <a:avLst>
              <a:gd name="adj" fmla="val 3555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497580"/>
            <a:ext cx="9448495" cy="28575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特別なシステムを新たに導入するのではなく、今お使いの環境を活かす設計のため、情報が</a:t>
            </a: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「ブラックボックス化」しない</a:t>
            </a:r>
            <a:r>
              <a:rPr sz="1500" b="0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安心感があります。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OPERATION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守るべきことと、避けるべきことがある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20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4815687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守ること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65376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25296" y="1865376"/>
            <a:ext cx="4596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送信前は必ずプレビューで内容を確認する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43125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2143125"/>
            <a:ext cx="4596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メモなど手入力した情報はスプレッドシート上で管理する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420874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2420874"/>
            <a:ext cx="4596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困ったときは、ツールに用意された診断機能で状態を確認する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1481328"/>
            <a:ext cx="4815687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B33A3A"/>
                </a:solidFill>
                <a:latin typeface="游ゴシック"/>
                <a:ea typeface="游ゴシック"/>
                <a:cs typeface="游ゴシック"/>
              </a:rPr>
              <a:t>避けること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1865376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9623" y="1865376"/>
            <a:ext cx="4596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内容を確認せずに再送信を繰り返す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167" y="2143125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9623" y="2143125"/>
            <a:ext cx="4596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企業情報や送信履歴を手動で削除する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0167" y="2420874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9623" y="2420874"/>
            <a:ext cx="4596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初期設定されている文面（テンプレート）を安易に削除する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1508760"/>
            <a:ext cx="12700" cy="1321308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TRACK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2ヶ月で32件改善し、実用段階に到達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21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481328"/>
            <a:ext cx="10180015" cy="777240"/>
          </a:xfrm>
          <a:prstGeom prst="roundRect">
            <a:avLst>
              <a:gd name="adj" fmla="val 13071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81328"/>
            <a:ext cx="9448495" cy="77724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2026年6月〜7月</a:t>
            </a:r>
            <a:r>
              <a:rPr sz="1500" b="0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の改善を経て、日々の営業活動で使える状態になっています。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87168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主な成果（何ができるようになったか）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852928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6" y="2852928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検索から成約まで、営業活動の一連の流れを自動化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76981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3276981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送信前に内容を確認できる「プレビュー機能」を追加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701034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6" y="3701034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送信・返信の履歴を自動記録し、対応状況を可視化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125087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4125087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商談・成約・フォローアップを、スプレッドシートを開かずに管理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549140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5296" y="4549140"/>
            <a:ext cx="996055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複数のメール文面を使い分けられるテンプレート管理機能を追加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まずは自動化、次に通知、その先はWeb化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22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481328"/>
            <a:ext cx="3210458" cy="4873752"/>
          </a:xfrm>
          <a:prstGeom prst="roundRect">
            <a:avLst>
              <a:gd name="adj" fmla="val 3164"/>
            </a:avLst>
          </a:prstGeom>
          <a:solidFill>
            <a:srgbClr val="FFFFFF"/>
          </a:solidFill>
          <a:ln w="1397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05840" y="1481328"/>
            <a:ext cx="3210458" cy="502920"/>
          </a:xfrm>
          <a:prstGeom prst="roundRect">
            <a:avLst>
              <a:gd name="adj" fmla="val 20202"/>
            </a:avLst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1737360"/>
            <a:ext cx="3210458" cy="246888"/>
          </a:xfrm>
          <a:prstGeom prst="rect">
            <a:avLst/>
          </a:prstGeom>
          <a:solidFill>
            <a:srgbClr val="E8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1481328"/>
            <a:ext cx="2661818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NOW｜現在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194560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9616" y="2194560"/>
            <a:ext cx="244236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企業検索から成約管理までの一連の機能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31770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99616" y="2731770"/>
            <a:ext cx="244236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送信前プレビュー・複数テンプレート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268980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9616" y="3268980"/>
            <a:ext cx="244236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レポート・フォローアップ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90618" y="1481328"/>
            <a:ext cx="3210458" cy="4873752"/>
          </a:xfrm>
          <a:prstGeom prst="roundRect">
            <a:avLst>
              <a:gd name="adj" fmla="val 3164"/>
            </a:avLst>
          </a:prstGeom>
          <a:solidFill>
            <a:srgbClr val="FFFFFF"/>
          </a:solidFill>
          <a:ln w="1397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90618" y="1481328"/>
            <a:ext cx="3210458" cy="502920"/>
          </a:xfrm>
          <a:prstGeom prst="roundRect">
            <a:avLst>
              <a:gd name="adj" fmla="val 20202"/>
            </a:avLst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90618" y="1737360"/>
            <a:ext cx="3210458" cy="246888"/>
          </a:xfrm>
          <a:prstGeom prst="rect">
            <a:avLst/>
          </a:prstGeom>
          <a:solidFill>
            <a:srgbClr val="EAF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64938" y="1481328"/>
            <a:ext cx="2661818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NEXT｜次のステップ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64938" y="2194560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4394" y="2194560"/>
            <a:ext cx="244236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AIによる文面の自動生成（返信率の向上）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64938" y="2731770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4394" y="2731770"/>
            <a:ext cx="244236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Slack等への自動通知（確認の手間を削減）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75396" y="1481328"/>
            <a:ext cx="3210458" cy="4873752"/>
          </a:xfrm>
          <a:prstGeom prst="roundRect">
            <a:avLst>
              <a:gd name="adj" fmla="val 3164"/>
            </a:avLst>
          </a:prstGeom>
          <a:solidFill>
            <a:srgbClr val="FFFFFF"/>
          </a:solidFill>
          <a:ln w="13970">
            <a:solidFill>
              <a:srgbClr val="D6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975396" y="1481328"/>
            <a:ext cx="3210458" cy="502920"/>
          </a:xfrm>
          <a:prstGeom prst="roundRect">
            <a:avLst>
              <a:gd name="adj" fmla="val 20202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75396" y="1737360"/>
            <a:ext cx="3210458" cy="246888"/>
          </a:xfrm>
          <a:prstGeom prst="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9716" y="1481328"/>
            <a:ext cx="2661818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LATER｜その先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9716" y="2194560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9172" y="2194560"/>
            <a:ext cx="244236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Web管理画面への対応（ブラウザから操作）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9716" y="2731770"/>
            <a:ext cx="219456" cy="3657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9172" y="2731770"/>
            <a:ext cx="244236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導入設定の自動化（短期間で利用開始）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VALUE OF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追加投資なしで、生産性を底上げ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23 / 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481328"/>
            <a:ext cx="10180015" cy="777240"/>
          </a:xfrm>
          <a:prstGeom prst="roundRect">
            <a:avLst>
              <a:gd name="adj" fmla="val 13071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481328"/>
            <a:ext cx="9448495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既存のGoogleスプレッドシート・Gmailを活用するため、</a:t>
            </a: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大規模なシステム投資は必要ありません</a:t>
            </a:r>
            <a:r>
              <a:rPr sz="1500" b="0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532888"/>
            <a:ext cx="10180015" cy="2743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■ 期待できる効果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990088"/>
            <a:ext cx="54864" cy="589788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898648"/>
            <a:ext cx="3017520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営業リスト作成時間の削減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898648"/>
            <a:ext cx="6705295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企業探しや情報整理にかかっていた時間を削減し、営業担当がより付加価値の高い業務に集中できます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854196"/>
            <a:ext cx="54864" cy="589788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762756"/>
            <a:ext cx="3017520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フォロー漏れの防止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762756"/>
            <a:ext cx="6705295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対応状況が自動で可視化されるため、商談機会の取りこぼしを防ぎます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4718304"/>
            <a:ext cx="54864" cy="589788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626864"/>
            <a:ext cx="3017520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営業状況の可視化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626864"/>
            <a:ext cx="6705295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送信率・返信率・商談数などが数値で把握でき、経営判断のスピードが上がります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5582412"/>
            <a:ext cx="54864" cy="589788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490972"/>
            <a:ext cx="3017520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作業の標準化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490972"/>
            <a:ext cx="6705295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属人化しがちだった営業プロセスを仕組み化し、担当者が変わっても一定の品質を保てます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GETTING STARTED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導入・利用開始までの流れ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24 / 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07008" y="1725015"/>
            <a:ext cx="0" cy="4386377"/>
          </a:xfrm>
          <a:prstGeom prst="line">
            <a:avLst/>
          </a:prstGeom>
          <a:ln w="19050">
            <a:solidFill>
              <a:srgbClr val="D6DBE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60704" y="1822399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4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1822399"/>
            <a:ext cx="292608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18488" y="1481328"/>
            <a:ext cx="2377440" cy="974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環境準備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8" y="1481328"/>
            <a:ext cx="7052767" cy="974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Googleアカウントとスプレッドシートを用意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0704" y="2797149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4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2797149"/>
            <a:ext cx="292608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2456078"/>
            <a:ext cx="2377440" cy="974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初期設定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33088" y="2456078"/>
            <a:ext cx="7052767" cy="974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送信元メールアドレスなど、必要な項目を設定（専門知識がなくても対応可能）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704" y="37719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4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0704" y="3771900"/>
            <a:ext cx="292608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3430828"/>
            <a:ext cx="2377440" cy="974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試験運用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33088" y="3430828"/>
            <a:ext cx="7052767" cy="974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少数の企業を対象に、試験的な運用を実施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60704" y="474665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4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746650"/>
            <a:ext cx="292608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8488" y="4405579"/>
            <a:ext cx="2377440" cy="974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本格運用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33088" y="4405579"/>
            <a:ext cx="7052767" cy="974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日々の営業活動に組み込み、本格的に利用を開始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0704" y="572140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245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" y="5721400"/>
            <a:ext cx="292608" cy="29260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>
              <a:lnSpc>
                <a:spcPct val="135000"/>
              </a:lnSpc>
              <a:spcAft>
                <a:spcPts val="0"/>
              </a:spcAft>
            </a:pPr>
            <a:r>
              <a:rPr sz="135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5380329"/>
            <a:ext cx="2377440" cy="97475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継続的な改善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3088" y="5380329"/>
            <a:ext cx="7052767" cy="974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運用状況を見ながら、ルールや設定を継続的に見直し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384048"/>
            <a:ext cx="10180015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1" spc="140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621792"/>
            <a:ext cx="101800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よくある質問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207008"/>
            <a:ext cx="457200" cy="3048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25 / 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365760" cy="3509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481328"/>
            <a:ext cx="9814255" cy="3509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導入に追加の費用はかかる？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871228"/>
            <a:ext cx="365760" cy="5848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1228"/>
            <a:ext cx="9814255" cy="58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既存のGoogleスプレッドシートとGmailを利用するため、新たな大きな費用は発生しません。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448458"/>
            <a:ext cx="10180015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456078"/>
            <a:ext cx="365760" cy="3509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456078"/>
            <a:ext cx="9814255" cy="3509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シートを直接編集しても大丈夫？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45978"/>
            <a:ext cx="365760" cy="5848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845978"/>
            <a:ext cx="9814255" cy="58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はい。人が入力した値（送信可否・メモ等）は保護され、自動で上書きされることはありません。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423208"/>
            <a:ext cx="10180015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430828"/>
            <a:ext cx="365760" cy="3509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430828"/>
            <a:ext cx="9814255" cy="3509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間違って送ってしまわないか心配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820728"/>
            <a:ext cx="365760" cy="5848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820728"/>
            <a:ext cx="9814255" cy="58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送信前に必ずプレビュー画面で内容を確認でき、送りたくない相手はその場で除外できます。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397959"/>
            <a:ext cx="10180015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405579"/>
            <a:ext cx="365760" cy="3509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405579"/>
            <a:ext cx="9814255" cy="3509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ITに詳しくないと使えない？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95479"/>
            <a:ext cx="365760" cy="5848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795479"/>
            <a:ext cx="9814255" cy="58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基本操作は決まった言葉を入力するだけです。シートの確認はいつも通りブラウザから可能です。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372709"/>
            <a:ext cx="10180015" cy="7620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380329"/>
            <a:ext cx="365760" cy="3509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2454A6"/>
                </a:solidFill>
                <a:latin typeface="游ゴシック"/>
                <a:ea typeface="游ゴシック"/>
                <a:cs typeface="游ゴシック"/>
              </a:rPr>
              <a:t>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380329"/>
            <a:ext cx="9814255" cy="3509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メールの文面は毎回同じ？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5770229"/>
            <a:ext cx="365760" cy="5848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1">
                <a:solidFill>
                  <a:srgbClr val="1E8E5A"/>
                </a:solidFill>
                <a:latin typeface="游ゴシック"/>
                <a:ea typeface="游ゴシック"/>
                <a:cs typeface="游ゴシック"/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770229"/>
            <a:ext cx="9814255" cy="58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いいえ。テンプレート機能で用途別（初回営業・フォロー等）に使い分けできます。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30480" cy="1280160"/>
          </a:xfrm>
          <a:prstGeom prst="rect">
            <a:avLst/>
          </a:prstGeom>
          <a:solidFill>
            <a:srgbClr val="2454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606040"/>
            <a:ext cx="10058400" cy="50292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2200" b="1">
                <a:solidFill>
                  <a:srgbClr val="14202E"/>
                </a:solidFill>
                <a:latin typeface="游ゴシック"/>
                <a:ea typeface="游ゴシック"/>
                <a:cs typeface="游ゴシック"/>
              </a:rPr>
              <a:t>ご不明点・導入のご相談はお気軽にお問い合わせください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200400"/>
            <a:ext cx="914400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47566B"/>
                </a:solidFill>
                <a:latin typeface="游ゴシック"/>
                <a:ea typeface="游ゴシック"/>
                <a:cs typeface="游ゴシック"/>
              </a:rPr>
              <a:t>Sales Pilot AI 開発チーム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529584"/>
            <a:ext cx="9144000" cy="32918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次のステップ：導入・利用開始までの流れ（P.24）をご参照のうえ、ご相談ください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6437376"/>
            <a:ext cx="10180015" cy="9525"/>
          </a:xfrm>
          <a:prstGeom prst="rect">
            <a:avLst/>
          </a:prstGeom>
          <a:solidFill>
            <a:srgbClr val="E5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6510528"/>
            <a:ext cx="640080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游ゴシック"/>
                <a:ea typeface="游ゴシック"/>
                <a:cs typeface="游ゴシック"/>
              </a:rPr>
              <a:t>Sales Pilot AI ｜ 導入・運用ガイド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88575" y="6510528"/>
            <a:ext cx="1097280" cy="21945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r">
              <a:lnSpc>
                <a:spcPct val="135000"/>
              </a:lnSpc>
              <a:spcAft>
                <a:spcPts val="0"/>
              </a:spcAft>
            </a:pPr>
            <a:r>
              <a:rPr sz="850" b="0">
                <a:solidFill>
                  <a:srgbClr val="8A97A8"/>
                </a:solidFill>
                <a:latin typeface="Consolas"/>
                <a:ea typeface="Consolas"/>
                <a:cs typeface="Consolas"/>
              </a:rPr>
              <a:t>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